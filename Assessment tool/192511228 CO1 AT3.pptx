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12" r:id="rId2"/>
    <p:sldId id="256" r:id="rId3"/>
    <p:sldId id="313" r:id="rId4"/>
    <p:sldId id="314" r:id="rId5"/>
    <p:sldId id="315" r:id="rId6"/>
    <p:sldId id="316" r:id="rId7"/>
    <p:sldId id="317" r:id="rId8"/>
    <p:sldId id="320" r:id="rId9"/>
    <p:sldId id="318" r:id="rId10"/>
    <p:sldId id="321" r:id="rId11"/>
    <p:sldId id="322" r:id="rId12"/>
    <p:sldId id="323" r:id="rId13"/>
    <p:sldId id="324" r:id="rId14"/>
    <p:sldId id="325" r:id="rId15"/>
    <p:sldId id="327" r:id="rId16"/>
    <p:sldId id="326" r:id="rId17"/>
    <p:sldId id="328" r:id="rId18"/>
    <p:sldId id="329" r:id="rId19"/>
    <p:sldId id="331" r:id="rId20"/>
    <p:sldId id="330" r:id="rId21"/>
    <p:sldId id="332" r:id="rId22"/>
    <p:sldId id="31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42" autoAdjust="0"/>
    <p:restoredTop sz="94660"/>
  </p:normalViewPr>
  <p:slideViewPr>
    <p:cSldViewPr snapToGrid="0">
      <p:cViewPr>
        <p:scale>
          <a:sx n="70" d="100"/>
          <a:sy n="70" d="100"/>
        </p:scale>
        <p:origin x="90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EA2AE-C349-4676-B370-0500ECA7FC5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AA042-9CA8-4BCC-9B78-8AECAAFD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25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AA042-9CA8-4BCC-9B78-8AECAAFD5CC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055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CB2E-B7FE-112D-A4F7-F7802BC03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2A771-0289-4070-403E-5CBB966E1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FE6DF-298E-5887-9DCE-1C67618B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A4B4A-D5E3-740E-5B4C-D25C5B5D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81F74-638E-D6D6-A4A4-C0408174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44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A493-69C1-3462-FA10-8B85D174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DA6B-8BAC-7562-AAEA-69B4907A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76D38-5A4F-A89A-EA4F-927DEA7E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F4FD5-86C0-468F-63CB-94DA9D92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437F-963B-5C60-F313-CBC7CBE1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50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6064B-040C-0713-6D45-E9B1BE6F8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4BB14-B4F8-0FA2-B052-303472E0F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097FC-4C9D-2E2B-E017-C48C67DA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F2D41-5FB6-C306-533A-32287F6A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C6145-9BE3-7834-A41D-DD6EF8D7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41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65B0-9CCC-6F07-DE6D-605C3445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679AC-BC9A-7ECD-F4E9-946227357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F2939-4765-23A0-F287-7C937C62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D4EFD-9540-2A15-6236-2E486AB7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94C86-6C38-DAD2-6E3F-1B6B015C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07C27-C1AC-176E-D0FB-E492DF44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38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CA3C-001A-9BED-39C9-C46979CAA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A5608-6155-69EC-6986-C77A90106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66358-7BB3-0EBF-BFE0-8430ECF8E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CB5DFD-AE3F-B181-7E13-577EE7C5E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08D25-ED4B-126D-001C-0DFA310E1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28928-35ED-3A1C-496D-B3B60CB9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B8FCA-4F88-A576-E722-4FBA667B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F3A52-E48F-CABB-47AB-10723BF0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728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2463-A821-A018-742A-BF0EAB93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C63A5-FE75-BC2B-8931-A5DF18CE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2FBEF-1CC1-4392-A848-C8B73547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8CACA-0A3A-45AD-6E5D-136C54CF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58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0C52A-8A91-7F89-4DA2-A33B86AD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97991-A14F-DA61-412C-076AFF4F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C75A2-5EA8-2B81-C321-5842B650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592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C3B3-2231-D762-D77A-FC9F8457F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DF0E7-DE5D-9B55-1B50-D098A4F9E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C6D1C-54BE-B3C2-1A04-4FA0964D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D0835-3214-9895-C79A-EC86AAAE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52639-F623-EE62-480A-C2509FC3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AF610-B97D-1A9F-E513-FC60D67D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87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7D9A-A759-9A69-BCFA-2EC3A02E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7F4D3-9563-6CD3-3283-3D8B79F79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F73B2-CDCF-88DC-8ED9-CFEA0CAE5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BC507-5727-F75F-91DF-AF7099A90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25D8E-0B0A-7D9F-3BA7-A039E3B9A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2AD1C-1D80-9A05-2B0C-C7D6F4C6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2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C495F-3C94-8049-87D5-5F1F8170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D98A2-7AC6-9F1D-CF0B-C75717F9E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C3387-5E94-C985-104D-A1B4194EE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C2960-21EB-E357-27E0-A0F01EBF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52A16-C239-F36E-6B93-DBB31D41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958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FAF6B9-6CDA-57CB-F9C9-5487A52FD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47508-94C5-FD48-2690-BD744ED2A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32E55-0628-C684-65C6-F14B9C7B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68035-1DD8-0F0E-C77C-41A91721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B3496-7617-AB36-B5B3-4EC0CC25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338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C2452-FA68-BCAB-738B-78F4A89C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B0354-85F4-13DE-77E7-64366D3F2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33D28-AD8E-4F6E-3427-5EED76187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BC81A-7E49-4E1D-A08F-BE4B8417432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421CB-2AF5-D7A0-AD20-E0DD356E6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64E8B-F507-450A-982A-08353F9B1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081E3-E3F8-4585-A095-0591F8BF8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08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524000" y="2362200"/>
            <a:ext cx="92456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0E743-3132-7F22-01A0-2F451B3FBED2}"/>
              </a:ext>
            </a:extLst>
          </p:cNvPr>
          <p:cNvSpPr txBox="1"/>
          <p:nvPr/>
        </p:nvSpPr>
        <p:spPr>
          <a:xfrm>
            <a:off x="909458" y="2196406"/>
            <a:ext cx="10373075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000" b="1" dirty="0">
                <a:latin typeface="Segoe"/>
              </a:rPr>
              <a:t>CO1 ASSESSMENT TOOL – 03</a:t>
            </a:r>
          </a:p>
          <a:p>
            <a:pPr algn="ctr">
              <a:lnSpc>
                <a:spcPct val="150000"/>
              </a:lnSpc>
            </a:pPr>
            <a:r>
              <a:rPr lang="en-IN" sz="3800" b="1" dirty="0">
                <a:latin typeface="Segoe"/>
                <a:cs typeface="Times" panose="02020603050405020304" pitchFamily="18" charset="0"/>
              </a:rPr>
              <a:t>TECHNICAL PRESENTATION</a:t>
            </a:r>
            <a:endParaRPr lang="en-US" sz="3800" b="1" dirty="0">
              <a:latin typeface="Segoe"/>
              <a:cs typeface="Times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7FE4D90-F6EB-D25D-AF7B-E021C3404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3665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2BFBAEE-CD35-0C87-D4B9-208E3DA157F9}"/>
              </a:ext>
            </a:extLst>
          </p:cNvPr>
          <p:cNvSpPr txBox="1"/>
          <p:nvPr/>
        </p:nvSpPr>
        <p:spPr>
          <a:xfrm>
            <a:off x="1285746" y="4024349"/>
            <a:ext cx="972210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300" b="1" dirty="0">
                <a:solidFill>
                  <a:schemeClr val="bg2">
                    <a:lumMod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CSA0509 – Database Management System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D437083C-755B-B357-C74E-8ACAA76DDE21}"/>
              </a:ext>
            </a:extLst>
          </p:cNvPr>
          <p:cNvSpPr txBox="1"/>
          <p:nvPr/>
        </p:nvSpPr>
        <p:spPr>
          <a:xfrm>
            <a:off x="714470" y="4745514"/>
            <a:ext cx="5621304" cy="11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KADHIREZHILAN. D(192511228)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2DC00E92-BBDC-F8F1-7B63-A6449248DC64}"/>
              </a:ext>
            </a:extLst>
          </p:cNvPr>
          <p:cNvSpPr txBox="1"/>
          <p:nvPr/>
        </p:nvSpPr>
        <p:spPr>
          <a:xfrm>
            <a:off x="7814065" y="4829415"/>
            <a:ext cx="4947979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b="1" dirty="0">
                <a:latin typeface="Times" panose="02020603050405020304" pitchFamily="18" charset="0"/>
                <a:cs typeface="Times" panose="02020603050405020304" pitchFamily="18" charset="0"/>
              </a:rPr>
              <a:t>GUIDED BY:</a:t>
            </a:r>
          </a:p>
          <a:p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  	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Dr. R. KESAVAN</a:t>
            </a:r>
            <a:endParaRPr lang="en-US"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SIMATS ENGINEERING —BIOTECHNOLOGY">
            <a:extLst>
              <a:ext uri="{FF2B5EF4-FFF2-40B4-BE49-F238E27FC236}">
                <a16:creationId xmlns:a16="http://schemas.microsoft.com/office/drawing/2014/main" id="{82838A3F-0C35-5A87-C366-94E182D77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54" y="470192"/>
            <a:ext cx="11046687" cy="142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240BDA-163C-6C7E-CBED-0DECD1BA909C}"/>
              </a:ext>
            </a:extLst>
          </p:cNvPr>
          <p:cNvSpPr txBox="1"/>
          <p:nvPr/>
        </p:nvSpPr>
        <p:spPr>
          <a:xfrm>
            <a:off x="1813034" y="576360"/>
            <a:ext cx="856593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TOPIC 1 – ER Diagram for Online Library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FB3F9-5B8B-D8FC-EDCD-8136FFC7A255}"/>
              </a:ext>
            </a:extLst>
          </p:cNvPr>
          <p:cNvSpPr txBox="1"/>
          <p:nvPr/>
        </p:nvSpPr>
        <p:spPr>
          <a:xfrm>
            <a:off x="811923" y="1745911"/>
            <a:ext cx="10568152" cy="467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ER Diagram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(ER) Diagram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graphical representation of the database structure and the relationships between data.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entities, attributes, and relationships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a clear blueprint for database design.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diagrams help developers organize data efficiently and reduce duplication or inconsistency.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improve communication between database designers, developers, and end users during system development.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Library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ER diagram manages books, members, librarians, loans, and their relationships.</a:t>
            </a:r>
            <a:r>
              <a:rPr lang="en-IN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ECD765-BE93-BE71-0EBD-1127B80F2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879302-F460-40DE-B4A7-4C07785D6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0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6E9A-A265-CAF7-2E4F-F7FF63852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19754C-2348-F84F-5970-64BA3345402E}"/>
              </a:ext>
            </a:extLst>
          </p:cNvPr>
          <p:cNvSpPr txBox="1"/>
          <p:nvPr/>
        </p:nvSpPr>
        <p:spPr>
          <a:xfrm>
            <a:off x="1524000" y="662447"/>
            <a:ext cx="9144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ER Diagram for Online Library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35420-4446-B2C7-0563-FAEF3EB96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839F6F-1B37-4B74-733D-6FE382D9D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7FFBA1-808C-B4DE-4CD2-C33985E4E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273" y="1453056"/>
            <a:ext cx="8107417" cy="540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F600-8C27-0BD9-8E8A-09275000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A8E54C-1514-8815-9BB6-7023FE5B7620}"/>
              </a:ext>
            </a:extLst>
          </p:cNvPr>
          <p:cNvSpPr txBox="1"/>
          <p:nvPr/>
        </p:nvSpPr>
        <p:spPr>
          <a:xfrm>
            <a:off x="1807779" y="661415"/>
            <a:ext cx="857644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  <a:cs typeface="Times New Roman" panose="02020603050405020304" pitchFamily="18" charset="0"/>
              </a:rPr>
              <a:t>Components of an Online Library ER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19295F-5E93-EA1E-AB69-8B4E20E86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3E9FCE-F0E2-8E97-DAF6-B16550566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B4DDE6-3284-98BE-B3CB-69E26B5B9E2C}"/>
              </a:ext>
            </a:extLst>
          </p:cNvPr>
          <p:cNvSpPr txBox="1"/>
          <p:nvPr/>
        </p:nvSpPr>
        <p:spPr>
          <a:xfrm>
            <a:off x="534713" y="2096245"/>
            <a:ext cx="11122572" cy="442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objects in the system include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Book, Member, Librarian, Loan, Author, and Category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representing important information stored in the database.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entity contains descriptive properties such as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Title, ISBN,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Issue Date, and Return Date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provide detailed information.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entity has a unique identifier (e.g.,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uniquely distinguishes every record in the database.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Entities are connected through relationships such as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borrows Book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 issues Loan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belongs to Category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writes Book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define how entities interact, such as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Member can borrow many Books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Category contains many Books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Book can have multiple Loan records over time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557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F64A-C36D-93DB-AFF7-F32AF3CB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42492F-EE35-4808-E413-160CC134E50B}"/>
              </a:ext>
            </a:extLst>
          </p:cNvPr>
          <p:cNvSpPr txBox="1"/>
          <p:nvPr/>
        </p:nvSpPr>
        <p:spPr>
          <a:xfrm>
            <a:off x="1807779" y="591236"/>
            <a:ext cx="85764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Segoe"/>
              </a:rPr>
              <a:t>Advantages and 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AA25-04AB-A509-F327-CCA26115E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914699-7132-561D-D590-40EC6FEDF2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E624D4-0362-C77C-A6F1-1B1D5AD92FC8}"/>
              </a:ext>
            </a:extLst>
          </p:cNvPr>
          <p:cNvSpPr txBox="1"/>
          <p:nvPr/>
        </p:nvSpPr>
        <p:spPr>
          <a:xfrm>
            <a:off x="446314" y="1504349"/>
            <a:ext cx="10437147" cy="5146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Database Design: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clear and structured blueprint for designing an efficient database.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Organizes data properly, minimizing duplicate records and maintaining consistency.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Maintenance: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it easier to update, modify, and expand the database as requirements change.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 Integrity: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relationships clearly, ensuring accurate and reliable data management.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fundamental tool used for designing well-structured databases.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clearly represents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entities, attributes, and relationships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simple visual format.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developers build databases that are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efficient, scalable, and easy to maintain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Library System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using an ER diagram ensures better organization, faster data retrieval, and reliable management of books and members. </a:t>
            </a:r>
          </a:p>
        </p:txBody>
      </p:sp>
    </p:spTree>
    <p:extLst>
      <p:ext uri="{BB962C8B-B14F-4D97-AF65-F5344CB8AC3E}">
        <p14:creationId xmlns:p14="http://schemas.microsoft.com/office/powerpoint/2010/main" val="295068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4F79-5441-41CE-02BC-4D2E8D09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D69EE2-40C9-1F26-9630-5370BF538C0B}"/>
              </a:ext>
            </a:extLst>
          </p:cNvPr>
          <p:cNvSpPr txBox="1"/>
          <p:nvPr/>
        </p:nvSpPr>
        <p:spPr>
          <a:xfrm>
            <a:off x="1573924" y="315196"/>
            <a:ext cx="961659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Topic 02 - EER Model: Generalization &amp; Specialization ( University Case Study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2A719-D70A-7EF5-3EBA-F15D7E548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BB2576-C8D8-B163-A64F-5CF3B4F34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AB2870-3056-F0DE-B44C-722E7F5BD44B}"/>
              </a:ext>
            </a:extLst>
          </p:cNvPr>
          <p:cNvSpPr txBox="1"/>
          <p:nvPr/>
        </p:nvSpPr>
        <p:spPr>
          <a:xfrm>
            <a:off x="979714" y="1799943"/>
            <a:ext cx="102108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Entity Relationship (EER)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extension of the traditional ER model used in database design.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introduces advanced concepts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Generalization, Specialization, Inheritance, and Categorization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models represent complex real-world applications more accurately than basic ER diagrams.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database flexibility, scalability, and reduces data redundancy.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is widely used in large systems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universities, hospitals, banks, and enterprise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5446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F464-B627-CBED-F984-D8E67BDB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30D2DD-8B68-06B9-7F0C-2FA259AFE7C7}"/>
              </a:ext>
            </a:extLst>
          </p:cNvPr>
          <p:cNvSpPr txBox="1"/>
          <p:nvPr/>
        </p:nvSpPr>
        <p:spPr>
          <a:xfrm>
            <a:off x="1387365" y="692947"/>
            <a:ext cx="94172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Segoe"/>
                <a:cs typeface="Times New Roman" panose="02020603050405020304" pitchFamily="18" charset="0"/>
              </a:rPr>
              <a:t>EER Diagram for University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D2BFB-3335-2AB3-5DA9-18E026424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28E573-FD22-E88B-CE70-0B85A3962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2D4A01-C367-ECB8-91FB-6377DEA4A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186" y="1592943"/>
            <a:ext cx="7897586" cy="526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3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EDB001-F221-06BA-DF38-853C4C2A6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205F7A-28E6-32A6-8E9F-5211EC043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5F9670-B438-B7F0-AF1A-839173270A6D}"/>
              </a:ext>
            </a:extLst>
          </p:cNvPr>
          <p:cNvSpPr txBox="1"/>
          <p:nvPr/>
        </p:nvSpPr>
        <p:spPr>
          <a:xfrm>
            <a:off x="1713139" y="853805"/>
            <a:ext cx="876572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  <a:cs typeface="Times New Roman" panose="02020603050405020304" pitchFamily="18" charset="0"/>
              </a:rPr>
              <a:t>Components of University EER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999B4-4CCC-9509-8EE1-BA6F0BAF5E6C}"/>
              </a:ext>
            </a:extLst>
          </p:cNvPr>
          <p:cNvSpPr txBox="1"/>
          <p:nvPr/>
        </p:nvSpPr>
        <p:spPr>
          <a:xfrm>
            <a:off x="1059996" y="1834554"/>
            <a:ext cx="10072007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Superclass: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 stores common attributes such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Gender, and Contact Number.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Person entity is divided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Student, Faculty, and Staff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having its own specific attributes.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Student, Faculty, and Staff share common characteristics and are generalized into the Person entity.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Course, Faculty teaches Course, and Department offers multiple Courses.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EER model reduces redundancy, improves data organization, and simplifies database maintenance. </a:t>
            </a:r>
          </a:p>
        </p:txBody>
      </p:sp>
    </p:spTree>
    <p:extLst>
      <p:ext uri="{BB962C8B-B14F-4D97-AF65-F5344CB8AC3E}">
        <p14:creationId xmlns:p14="http://schemas.microsoft.com/office/powerpoint/2010/main" val="110385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63D3-1EB5-CC02-9EC5-FBE58AD0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A1A9F7-FDD2-2D0C-B39E-1D741ABF7731}"/>
              </a:ext>
            </a:extLst>
          </p:cNvPr>
          <p:cNvSpPr txBox="1"/>
          <p:nvPr/>
        </p:nvSpPr>
        <p:spPr>
          <a:xfrm>
            <a:off x="3047999" y="608864"/>
            <a:ext cx="6912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Segoe"/>
              </a:rPr>
              <a:t>Advantages and 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C64B55-E60D-1328-1223-D16794A48CE3}"/>
              </a:ext>
            </a:extLst>
          </p:cNvPr>
          <p:cNvSpPr txBox="1"/>
          <p:nvPr/>
        </p:nvSpPr>
        <p:spPr>
          <a:xfrm>
            <a:off x="742479" y="1441111"/>
            <a:ext cx="10957410" cy="574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complex real-world systems more accurately than the basic ER model.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inheritance through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 by storing common attributes in a superclass.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large database systems easier to design, manage, and maintain. </a:t>
            </a:r>
          </a:p>
          <a:p>
            <a:pPr algn="just"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Model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the traditional ER model by supporting advanced database concepts.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clear representation of hierarchical relationships between entities.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case study demonstrates how EER simplifies the management of students, faculty, and departments.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create scalable, flexible, and efficient database systems for real-world applications.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D5F7C-4901-F4E7-E3FE-071FD0F76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843889-E1C0-FB86-B57D-C2888CCC7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3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B431-CFAB-2B83-E142-9A3BD229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7A9026-08A5-334C-FE80-555376262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A34C2-43D9-01D4-695D-14D0DADFE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B2381D-BD62-674E-E65E-A478DCE00B1D}"/>
              </a:ext>
            </a:extLst>
          </p:cNvPr>
          <p:cNvSpPr txBox="1"/>
          <p:nvPr/>
        </p:nvSpPr>
        <p:spPr>
          <a:xfrm>
            <a:off x="1511753" y="936562"/>
            <a:ext cx="916849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Topic 03 - Data Independence in DBMS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C5781-DA81-2982-2921-C49E380AE786}"/>
              </a:ext>
            </a:extLst>
          </p:cNvPr>
          <p:cNvSpPr txBox="1"/>
          <p:nvPr/>
        </p:nvSpPr>
        <p:spPr>
          <a:xfrm>
            <a:off x="972956" y="2100666"/>
            <a:ext cx="10246085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to modify the database schema without affecting application programs.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most important features of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separates the physical storage of data from the way users access the data. Data independence improves database flexibility, scalability, and maintainability.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Data Independence: 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 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</a:p>
        </p:txBody>
      </p:sp>
    </p:spTree>
    <p:extLst>
      <p:ext uri="{BB962C8B-B14F-4D97-AF65-F5344CB8AC3E}">
        <p14:creationId xmlns:p14="http://schemas.microsoft.com/office/powerpoint/2010/main" val="3624478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2EE18-E44B-783D-4B11-8CA8CAA1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E2BECA-0636-A5A7-AF8F-509FA0A0F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1C6FA1-ED15-76F3-0AD7-64F866F50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BA6F6F-51B0-0B56-8E18-0555D1EB070C}"/>
              </a:ext>
            </a:extLst>
          </p:cNvPr>
          <p:cNvSpPr txBox="1"/>
          <p:nvPr/>
        </p:nvSpPr>
        <p:spPr>
          <a:xfrm>
            <a:off x="1578944" y="589143"/>
            <a:ext cx="900520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1" dirty="0">
                <a:latin typeface="Segoe"/>
              </a:rPr>
              <a:t>Data Independence in DBMS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C1E453-877B-C306-5F3F-E2C08DD39B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592" y="1237343"/>
            <a:ext cx="8430986" cy="562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14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1804-08B0-1752-5C7B-9AD33815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3437B0-6088-44D9-7514-3406306F2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B6988-03D8-6A1F-8302-996AB96BB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22B832-412C-8852-AE2F-7567D6041DF1}"/>
              </a:ext>
            </a:extLst>
          </p:cNvPr>
          <p:cNvSpPr txBox="1"/>
          <p:nvPr/>
        </p:nvSpPr>
        <p:spPr>
          <a:xfrm>
            <a:off x="1745796" y="584638"/>
            <a:ext cx="870040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Physical vs Logical Data Independence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211509-46F9-B00D-46CC-4942AAAB4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171897"/>
              </p:ext>
            </p:extLst>
          </p:nvPr>
        </p:nvGraphicFramePr>
        <p:xfrm>
          <a:off x="930727" y="1777490"/>
          <a:ext cx="10477502" cy="4394710"/>
        </p:xfrm>
        <a:graphic>
          <a:graphicData uri="http://schemas.openxmlformats.org/drawingml/2006/table">
            <a:tbl>
              <a:tblPr/>
              <a:tblGrid>
                <a:gridCol w="5238751">
                  <a:extLst>
                    <a:ext uri="{9D8B030D-6E8A-4147-A177-3AD203B41FA5}">
                      <a16:colId xmlns:a16="http://schemas.microsoft.com/office/drawing/2014/main" val="667500769"/>
                    </a:ext>
                  </a:extLst>
                </a:gridCol>
                <a:gridCol w="5238751">
                  <a:extLst>
                    <a:ext uri="{9D8B030D-6E8A-4147-A177-3AD203B41FA5}">
                      <a16:colId xmlns:a16="http://schemas.microsoft.com/office/drawing/2014/main" val="480092835"/>
                    </a:ext>
                  </a:extLst>
                </a:gridCol>
              </a:tblGrid>
              <a:tr h="87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Physical Data Independence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Logical Data Independence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872526"/>
                  </a:ext>
                </a:extLst>
              </a:tr>
              <a:tr h="87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Changes physical storage.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Changes logical schema.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899786"/>
                  </a:ext>
                </a:extLst>
              </a:tr>
              <a:tr h="87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Does not affect conceptual schema.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Does not affect external views.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943587"/>
                  </a:ext>
                </a:extLst>
              </a:tr>
              <a:tr h="87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Examples: Indexing, file organization, storage devices.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Examples: Adding attributes, tables, relationships.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659292"/>
                  </a:ext>
                </a:extLst>
              </a:tr>
              <a:tr h="87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Easier to achieve.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More difficult to achieve.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275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221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ED11-1903-56A3-9B96-10FD840F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558E0E-9544-263A-6813-6E36691C6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A771F-A220-5FC1-8F19-464449D2C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16C4D0-D9D5-AFF2-1CC6-672C3FCBC51D}"/>
              </a:ext>
            </a:extLst>
          </p:cNvPr>
          <p:cNvSpPr txBox="1"/>
          <p:nvPr/>
        </p:nvSpPr>
        <p:spPr>
          <a:xfrm>
            <a:off x="1677854" y="538334"/>
            <a:ext cx="890723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Importance of Data Independence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26EC9-DAB9-FF53-25D2-BB55C4E17EEA}"/>
              </a:ext>
            </a:extLst>
          </p:cNvPr>
          <p:cNvSpPr txBox="1"/>
          <p:nvPr/>
        </p:nvSpPr>
        <p:spPr>
          <a:xfrm>
            <a:off x="881743" y="1666020"/>
            <a:ext cx="10428514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Flexibility: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database modifications without changing application programs.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Maintenance Cost: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in the database require minimal updates to existing software.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Performance: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 storage can be optimized without affecting users.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Database Growth: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tables and attributes can be added as requirements change.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Long-Term Reliability: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the database scalable, consistent, and easier to maintain.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is a fundamental feature of DBMS architecture that separates user applications from database changes, ensuring flexibility, efficient maintenance, and long-term system reliability.</a:t>
            </a:r>
          </a:p>
        </p:txBody>
      </p:sp>
    </p:spTree>
    <p:extLst>
      <p:ext uri="{BB962C8B-B14F-4D97-AF65-F5344CB8AC3E}">
        <p14:creationId xmlns:p14="http://schemas.microsoft.com/office/powerpoint/2010/main" val="1981121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C826-6AAD-2E28-A2D8-22F8B326F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1A1614-096E-554F-C1E4-79964476C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BEC1F-1692-3217-12F1-269884833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0815BC-3BFB-0FA9-527B-FA537433D39E}"/>
              </a:ext>
            </a:extLst>
          </p:cNvPr>
          <p:cNvSpPr txBox="1"/>
          <p:nvPr/>
        </p:nvSpPr>
        <p:spPr>
          <a:xfrm>
            <a:off x="1740353" y="853805"/>
            <a:ext cx="871129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Topic 04 - DBMS Software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506E5-69F7-8080-6759-A3A56CC9EFB9}"/>
              </a:ext>
            </a:extLst>
          </p:cNvPr>
          <p:cNvSpPr txBox="1"/>
          <p:nvPr/>
        </p:nvSpPr>
        <p:spPr>
          <a:xfrm>
            <a:off x="849555" y="1861181"/>
            <a:ext cx="10757807" cy="391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software components that manage data efficiently.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components work together to process queries, store data securely, and maintain database consistency.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improve database performance, security, and reliability.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major software components are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Processor, Storage Manager, and Transaction Manager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component performs a specific function to ensure smooth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215403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5F9B6-E5A6-7436-5D01-1DF7ABD54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B44591-4654-B3C4-DE75-8CA4DA226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51D524-CC0C-6C48-0F79-491193486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093E11-320A-173E-752C-847CFFAB3AE2}"/>
              </a:ext>
            </a:extLst>
          </p:cNvPr>
          <p:cNvSpPr txBox="1"/>
          <p:nvPr/>
        </p:nvSpPr>
        <p:spPr>
          <a:xfrm>
            <a:off x="1626053" y="675305"/>
            <a:ext cx="893989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DBMS Software Components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CF60D-4A95-C152-1482-818ED1358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520" y="1592942"/>
            <a:ext cx="7766957" cy="517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30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5971-C50D-BC55-5617-F1CF8F1E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CFEFC-7D2C-20FB-F9E9-1B3BD072D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5A0A55-FFF2-0242-50B2-C18765CD3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8A37CC-175D-0331-7C04-0890F78C14BF}"/>
              </a:ext>
            </a:extLst>
          </p:cNvPr>
          <p:cNvSpPr txBox="1"/>
          <p:nvPr/>
        </p:nvSpPr>
        <p:spPr>
          <a:xfrm>
            <a:off x="1979839" y="853805"/>
            <a:ext cx="823232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Functions of Software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D2B62-82AB-5C3C-84AD-C079681DFE09}"/>
              </a:ext>
            </a:extLst>
          </p:cNvPr>
          <p:cNvSpPr txBox="1"/>
          <p:nvPr/>
        </p:nvSpPr>
        <p:spPr>
          <a:xfrm>
            <a:off x="793296" y="1951282"/>
            <a:ext cx="10605407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Accepts SQL queries, checks syntax, optimizes execution, and retrieves the required data efficiently.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physical storage, file organization, indexes, buffers, and efficient data retrieval.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 database transactions, maintains consistency, and handles concurrency and recovery.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these components ensure fast, secure, and reliable database operations.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support efficient data access while maintaining accuracy and integrity.</a:t>
            </a:r>
          </a:p>
        </p:txBody>
      </p:sp>
    </p:spTree>
    <p:extLst>
      <p:ext uri="{BB962C8B-B14F-4D97-AF65-F5344CB8AC3E}">
        <p14:creationId xmlns:p14="http://schemas.microsoft.com/office/powerpoint/2010/main" val="2923984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0FBA-A5CF-B97E-B9FA-4D892A95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B54934-883C-1024-B2CD-30B51ED90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FE1745-4578-2069-5F3A-65F6ED1E1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159B2A-0A6A-B998-C323-01381B3D64EB}"/>
              </a:ext>
            </a:extLst>
          </p:cNvPr>
          <p:cNvSpPr txBox="1"/>
          <p:nvPr/>
        </p:nvSpPr>
        <p:spPr>
          <a:xfrm>
            <a:off x="2540453" y="773277"/>
            <a:ext cx="711109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Advantages and 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8EB3C-CBAA-3562-A07A-ACAE481BBC8A}"/>
              </a:ext>
            </a:extLst>
          </p:cNvPr>
          <p:cNvSpPr txBox="1"/>
          <p:nvPr/>
        </p:nvSpPr>
        <p:spPr>
          <a:xfrm>
            <a:off x="555734" y="1545734"/>
            <a:ext cx="11266432" cy="486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query processing speed and database performance.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organized storage of database files.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data consistency through transaction management.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reliable recovery from system failures and concurrent access. </a:t>
            </a:r>
          </a:p>
          <a:p>
            <a:pPr algn="just"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Processor, Storage Manager, and Transaction Manager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core software components of a DBMS.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work together to provide efficient data processing, secure storage, and reliable transaction handling.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components ensure the database remains accurate, consistent, and available to users.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well-designed DBMS improves overall system performance and simplifies database management.</a:t>
            </a:r>
          </a:p>
        </p:txBody>
      </p:sp>
    </p:spTree>
    <p:extLst>
      <p:ext uri="{BB962C8B-B14F-4D97-AF65-F5344CB8AC3E}">
        <p14:creationId xmlns:p14="http://schemas.microsoft.com/office/powerpoint/2010/main" val="258222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1B7B2-2BB5-F0C0-08C3-B5240663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1A74DA-5F52-7696-54CF-D488665C5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CFCA09-7256-E260-1F7F-EEFE14F96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00FCE7-E93A-BCF3-AF3F-FBB82BFB6B12}"/>
              </a:ext>
            </a:extLst>
          </p:cNvPr>
          <p:cNvSpPr txBox="1"/>
          <p:nvPr/>
        </p:nvSpPr>
        <p:spPr>
          <a:xfrm>
            <a:off x="2137682" y="853805"/>
            <a:ext cx="791663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Topic 05 - Strong &amp; Weak Entities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55A32-A526-46CC-3D63-A1D564CDD819}"/>
              </a:ext>
            </a:extLst>
          </p:cNvPr>
          <p:cNvSpPr txBox="1"/>
          <p:nvPr/>
        </p:nvSpPr>
        <p:spPr>
          <a:xfrm>
            <a:off x="1140372" y="2100241"/>
            <a:ext cx="10276114" cy="3768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real-world object that stores information in a database.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entities into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exist independently and has its own Primary Key.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 a Strong Entity for its existence.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both entity types helps create accurate and efficient database designs. </a:t>
            </a:r>
          </a:p>
        </p:txBody>
      </p:sp>
    </p:spTree>
    <p:extLst>
      <p:ext uri="{BB962C8B-B14F-4D97-AF65-F5344CB8AC3E}">
        <p14:creationId xmlns:p14="http://schemas.microsoft.com/office/powerpoint/2010/main" val="944685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73239-295B-1D2F-34A9-A2AA9775C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151D21-F6F8-4BD2-C41A-548681B3D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C76411-2314-2C84-6CB6-CC6408CC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F1871-7BB3-F50B-FB22-E2956159D361}"/>
              </a:ext>
            </a:extLst>
          </p:cNvPr>
          <p:cNvSpPr txBox="1"/>
          <p:nvPr/>
        </p:nvSpPr>
        <p:spPr>
          <a:xfrm>
            <a:off x="2122715" y="399972"/>
            <a:ext cx="810169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Strong and Weak Entity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7EF461-1551-95E6-272C-28363E158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379" y="1169276"/>
            <a:ext cx="8860338" cy="534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93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85A3-6BE3-08A3-E62F-F2F834FB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AD350F-39F9-D2C4-4A1B-C07489EAF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4BC211-CCFF-654A-038B-42EA7F44F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8409BB-A22C-C61C-4E99-AC72C9DEF57B}"/>
              </a:ext>
            </a:extLst>
          </p:cNvPr>
          <p:cNvSpPr txBox="1"/>
          <p:nvPr/>
        </p:nvSpPr>
        <p:spPr>
          <a:xfrm>
            <a:off x="1323130" y="584638"/>
            <a:ext cx="951683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Comparison of Strong and Weak Entities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5F949C-0854-3C3F-54F8-C77CB3D48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753617"/>
              </p:ext>
            </p:extLst>
          </p:nvPr>
        </p:nvGraphicFramePr>
        <p:xfrm>
          <a:off x="832756" y="1665944"/>
          <a:ext cx="10526488" cy="4441374"/>
        </p:xfrm>
        <a:graphic>
          <a:graphicData uri="http://schemas.openxmlformats.org/drawingml/2006/table">
            <a:tbl>
              <a:tblPr/>
              <a:tblGrid>
                <a:gridCol w="5263244">
                  <a:extLst>
                    <a:ext uri="{9D8B030D-6E8A-4147-A177-3AD203B41FA5}">
                      <a16:colId xmlns:a16="http://schemas.microsoft.com/office/drawing/2014/main" val="4293352136"/>
                    </a:ext>
                  </a:extLst>
                </a:gridCol>
                <a:gridCol w="5263244">
                  <a:extLst>
                    <a:ext uri="{9D8B030D-6E8A-4147-A177-3AD203B41FA5}">
                      <a16:colId xmlns:a16="http://schemas.microsoft.com/office/drawing/2014/main" val="1144530109"/>
                    </a:ext>
                  </a:extLst>
                </a:gridCol>
              </a:tblGrid>
              <a:tr h="740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Entity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Entity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235031"/>
                  </a:ext>
                </a:extLst>
              </a:tr>
              <a:tr h="740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independently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a Strong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554060"/>
                  </a:ext>
                </a:extLst>
              </a:tr>
              <a:tr h="740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 its own Primary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Partial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319642"/>
                  </a:ext>
                </a:extLst>
              </a:tr>
              <a:tr h="740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 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993363"/>
                  </a:ext>
                </a:extLst>
              </a:tr>
              <a:tr h="740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 existence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exist alone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09462"/>
                  </a:ext>
                </a:extLst>
              </a:tr>
              <a:tr h="740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Employee, 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Dependent, Order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929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065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80BB-4CDD-0C9E-F3F3-FDFAC586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319E5-9F94-B5E2-F0F3-4D90CA18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92A129-547A-3F05-AC69-0F31FF1E2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F8C059-4D99-7B09-A506-37C655F109F9}"/>
              </a:ext>
            </a:extLst>
          </p:cNvPr>
          <p:cNvSpPr txBox="1"/>
          <p:nvPr/>
        </p:nvSpPr>
        <p:spPr>
          <a:xfrm>
            <a:off x="2769054" y="707963"/>
            <a:ext cx="665389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Segoe"/>
              </a:rPr>
              <a:t>Advantages &amp; 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3BAE3-97CD-14A5-36AC-78EE2B2C9EE2}"/>
              </a:ext>
            </a:extLst>
          </p:cNvPr>
          <p:cNvSpPr txBox="1"/>
          <p:nvPr/>
        </p:nvSpPr>
        <p:spPr>
          <a:xfrm>
            <a:off x="1054553" y="1621934"/>
            <a:ext cx="10082893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identifies entity dependency in a database.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relationship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database organization.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 integrity by enforcing ownership rules.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database design and maintenance.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Entities are essential concepts in 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represent independent and dependent objects accurately.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use of these entities improves database consistency and reduces redundancy.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concepts leads to efficient and reliable database design. </a:t>
            </a:r>
          </a:p>
        </p:txBody>
      </p:sp>
    </p:spTree>
    <p:extLst>
      <p:ext uri="{BB962C8B-B14F-4D97-AF65-F5344CB8AC3E}">
        <p14:creationId xmlns:p14="http://schemas.microsoft.com/office/powerpoint/2010/main" val="3022456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FBC06E-67E0-FC38-2FB8-542E9ED49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73D558-BCBA-AF0F-5A83-5512BC305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4" y="0"/>
            <a:ext cx="1169276" cy="1169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42C08-BA03-2C2F-87AF-22CB7AEA6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4" y="0"/>
            <a:ext cx="1169276" cy="116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67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1471</Words>
  <Application>Microsoft Office PowerPoint</Application>
  <PresentationFormat>Widescreen</PresentationFormat>
  <Paragraphs>143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Segoe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Kadhirezhilan D</dc:creator>
  <cp:lastModifiedBy>Kadhirezhilan D</cp:lastModifiedBy>
  <cp:revision>3</cp:revision>
  <dcterms:created xsi:type="dcterms:W3CDTF">2026-07-23T23:05:59Z</dcterms:created>
  <dcterms:modified xsi:type="dcterms:W3CDTF">2026-07-24T04:13:13Z</dcterms:modified>
</cp:coreProperties>
</file>